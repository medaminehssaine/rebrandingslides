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Inter"/>
      <p:regular r:id="rId8"/>
      <p:bold r:id="rId9"/>
      <p:italic r:id="rId10"/>
      <p:boldItalic r:id="rId11"/>
    </p:embeddedFont>
    <p:embeddedFont>
      <p:font typeface="Urbanis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13" Type="http://schemas.openxmlformats.org/officeDocument/2006/relationships/font" Target="fonts/Urbanist-bold.fntdata"/><Relationship Id="rId12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bold.fntdata"/><Relationship Id="rId15" Type="http://schemas.openxmlformats.org/officeDocument/2006/relationships/font" Target="fonts/Urbanist-boldItalic.fntdata"/><Relationship Id="rId14" Type="http://schemas.openxmlformats.org/officeDocument/2006/relationships/font" Target="fonts/Urbanis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5c458efb4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d5c458efb4_2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pic>
          <p:nvPicPr>
            <p:cNvPr descr="image.png" id="61" name="Google Shape;61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62" name="Google Shape;62;p14"/>
            <p:cNvPicPr preferRelativeResize="0"/>
            <p:nvPr/>
          </p:nvPicPr>
          <p:blipFill rotWithShape="1">
            <a:blip r:embed="rId3">
              <a:alphaModFix/>
            </a:blip>
            <a:srcRect b="0" l="0" r="0" t="1112"/>
            <a:stretch/>
          </p:blipFill>
          <p:spPr>
            <a:xfrm>
              <a:off x="0" y="76200"/>
              <a:ext cx="12192000" cy="6781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6" name="Google Shape;106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3" name="Google Shape;113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 rot="5400000">
            <a:off x="3549254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828130"/>
            <a:ext cx="3607595" cy="272958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571500" y="428625"/>
            <a:ext cx="84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fr" sz="27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Transformation et fidélisation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774808" y="1923990"/>
            <a:ext cx="331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fr" sz="21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TRANSFO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920958" y="2418900"/>
            <a:ext cx="33153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Moderniser notre infrastructure IT, automatiser les tâches répétitives et former nos équipes aux nouveaux outils.</a:t>
            </a:r>
            <a:endParaRPr b="0" i="0" sz="1300" u="none" cap="none" strike="noStrike">
              <a:solidFill>
                <a:srgbClr val="5C4B5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15900" lvl="0" marL="21590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3D1A2B"/>
              </a:buClr>
              <a:buSzPts val="1300"/>
              <a:buFont typeface="Arial"/>
              <a:buChar char="•"/>
            </a:pPr>
            <a:r>
              <a:rPr b="0" i="0" lang="fr" sz="13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Moderniser infrastructure IT</a:t>
            </a:r>
            <a:endParaRPr b="0" i="0" sz="13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15900" lvl="0" marL="215900" marR="0" rtl="0" algn="l">
              <a:lnSpc>
                <a:spcPct val="120000"/>
              </a:lnSpc>
              <a:spcBef>
                <a:spcPts val="160"/>
              </a:spcBef>
              <a:spcAft>
                <a:spcPts val="0"/>
              </a:spcAft>
              <a:buClr>
                <a:srgbClr val="3D1A2B"/>
              </a:buClr>
              <a:buSzPts val="1300"/>
              <a:buFont typeface="Arial"/>
              <a:buChar char="•"/>
            </a:pPr>
            <a:r>
              <a:rPr b="0" i="0" lang="fr" sz="13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Automatiser tâches répétitives</a:t>
            </a:r>
            <a:endParaRPr b="0" i="0" sz="13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15900" lvl="0" marL="215900" marR="0" rtl="0" algn="l">
              <a:lnSpc>
                <a:spcPct val="120000"/>
              </a:lnSpc>
              <a:spcBef>
                <a:spcPts val="160"/>
              </a:spcBef>
              <a:spcAft>
                <a:spcPts val="0"/>
              </a:spcAft>
              <a:buClr>
                <a:srgbClr val="3D1A2B"/>
              </a:buClr>
              <a:buSzPts val="1300"/>
              <a:buFont typeface="Arial"/>
              <a:buChar char="•"/>
            </a:pPr>
            <a:r>
              <a:rPr b="0" i="0" lang="fr" sz="13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Former équipes aux nouveaux outils</a:t>
            </a:r>
            <a:endParaRPr b="0" i="0" sz="13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557213" y="1035174"/>
            <a:ext cx="8086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" sz="15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Notre entreprise fait face à deux défis majeurs en 2025.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7" name="Google Shape;1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2019" y="1828129"/>
            <a:ext cx="3921919" cy="27295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5061801" y="2418900"/>
            <a:ext cx="3436200" cy="1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Renforcer notre programme de </a:t>
            </a:r>
            <a:r>
              <a:rPr b="1" i="0" lang="fr" sz="13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fidélité</a:t>
            </a:r>
            <a:r>
              <a:rPr b="0" i="0" lang="fr" sz="13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, améliorer l'expérience client et réduire le taux de </a:t>
            </a:r>
            <a:r>
              <a:rPr b="1" i="0" lang="fr" sz="13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churn</a:t>
            </a:r>
            <a:r>
              <a:rPr b="0" i="0" lang="fr" sz="13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 de 15% observé ce trimestre.</a:t>
            </a:r>
            <a:endParaRPr b="0" i="0" sz="1300" u="none" cap="none" strike="noStrike">
              <a:solidFill>
                <a:srgbClr val="5C4B5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15900" lvl="0" marL="21590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3D1A2B"/>
              </a:buClr>
              <a:buSzPts val="1300"/>
              <a:buFont typeface="Arial"/>
              <a:buChar char="•"/>
            </a:pPr>
            <a:r>
              <a:rPr b="0" i="0" lang="fr" sz="13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Renforcer programme de </a:t>
            </a:r>
            <a:r>
              <a:rPr b="1" i="0" lang="fr" sz="13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fidélité</a:t>
            </a:r>
            <a:endParaRPr b="0" i="0" sz="13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15900" lvl="0" marL="215900" marR="0" rtl="0" algn="l">
              <a:lnSpc>
                <a:spcPct val="120000"/>
              </a:lnSpc>
              <a:spcBef>
                <a:spcPts val="160"/>
              </a:spcBef>
              <a:spcAft>
                <a:spcPts val="0"/>
              </a:spcAft>
              <a:buClr>
                <a:srgbClr val="3D1A2B"/>
              </a:buClr>
              <a:buSzPts val="1300"/>
              <a:buFont typeface="Arial"/>
              <a:buChar char="•"/>
            </a:pPr>
            <a:r>
              <a:rPr b="0" i="0" lang="fr" sz="13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Améliorer expérience client</a:t>
            </a:r>
            <a:endParaRPr b="0" i="0" sz="13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15900" lvl="0" marL="215900" marR="0" rtl="0" algn="l">
              <a:lnSpc>
                <a:spcPct val="120000"/>
              </a:lnSpc>
              <a:spcBef>
                <a:spcPts val="160"/>
              </a:spcBef>
              <a:spcAft>
                <a:spcPts val="0"/>
              </a:spcAft>
              <a:buClr>
                <a:srgbClr val="3D1A2B"/>
              </a:buClr>
              <a:buSzPts val="1300"/>
              <a:buFont typeface="Arial"/>
              <a:buChar char="•"/>
            </a:pPr>
            <a:r>
              <a:rPr b="0" i="0" lang="fr" sz="13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Réduire taux de </a:t>
            </a:r>
            <a:r>
              <a:rPr b="1" i="0" lang="fr" sz="13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churn</a:t>
            </a:r>
            <a:endParaRPr b="0" i="0" sz="13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868001" y="1924007"/>
            <a:ext cx="363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fr" sz="21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FIDÉLITÉ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
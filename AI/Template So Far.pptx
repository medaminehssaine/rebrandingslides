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Urbanist Medium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3sdK3nEfuUiSUNhcAdVmCr9mH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UrbanistMedium-regular.fntdata"/><Relationship Id="rId16" Type="http://schemas.openxmlformats.org/officeDocument/2006/relationships/font" Target="fonts/Inter-boldItalic.fntdata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/>
          <p:nvPr>
            <p:ph idx="4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n"/>
          <p:cNvSpPr txBox="1"/>
          <p:nvPr>
            <p:ph idx="5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n"/>
          <p:cNvSpPr/>
          <p:nvPr>
            <p:ph idx="6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" name="Google Shape;12;n"/>
          <p:cNvSpPr txBox="1"/>
          <p:nvPr>
            <p:ph idx="7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n"/>
          <p:cNvSpPr txBox="1"/>
          <p:nvPr>
            <p:ph idx="8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n"/>
          <p:cNvSpPr txBox="1"/>
          <p:nvPr>
            <p:ph idx="9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 txBox="1"/>
          <p:nvPr>
            <p:ph idx="1" type="body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:notes"/>
          <p:cNvSpPr/>
          <p:nvPr>
            <p:ph idx="2" type="sldImg"/>
          </p:nvPr>
        </p:nvSpPr>
        <p:spPr>
          <a:xfrm>
            <a:off x="685800" y="1143000"/>
            <a:ext cx="5486400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 txBox="1"/>
          <p:nvPr>
            <p:ph idx="1" type="body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:notes"/>
          <p:cNvSpPr/>
          <p:nvPr>
            <p:ph idx="2" type="sldImg"/>
          </p:nvPr>
        </p:nvSpPr>
        <p:spPr>
          <a:xfrm>
            <a:off x="685800" y="1143000"/>
            <a:ext cx="5486400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:notes"/>
          <p:cNvSpPr txBox="1"/>
          <p:nvPr>
            <p:ph idx="1" type="body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:notes"/>
          <p:cNvSpPr/>
          <p:nvPr>
            <p:ph idx="2" type="sldImg"/>
          </p:nvPr>
        </p:nvSpPr>
        <p:spPr>
          <a:xfrm>
            <a:off x="685800" y="1143000"/>
            <a:ext cx="5486400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ab5b0c0a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dab5b0c0aa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966d3c384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d966d3c384_2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ab5b0c0a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dab5b0c0aa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685800" y="1143000"/>
            <a:ext cx="5486400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er Purple">
  <p:cSld name="Opener Purple">
    <p:bg>
      <p:bgPr>
        <a:solidFill>
          <a:srgbClr val="32112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3"/>
          <p:cNvPicPr preferRelativeResize="0"/>
          <p:nvPr/>
        </p:nvPicPr>
        <p:blipFill rotWithShape="1">
          <a:blip r:embed="rId3">
            <a:alphaModFix/>
          </a:blip>
          <a:srcRect b="17650" l="0" r="47179" t="10864"/>
          <a:stretch/>
        </p:blipFill>
        <p:spPr>
          <a:xfrm>
            <a:off x="5036222" y="0"/>
            <a:ext cx="7177966" cy="687926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 txBox="1"/>
          <p:nvPr>
            <p:ph type="title"/>
          </p:nvPr>
        </p:nvSpPr>
        <p:spPr>
          <a:xfrm>
            <a:off x="483873" y="406395"/>
            <a:ext cx="8980166" cy="1456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4800"/>
              <a:buFont typeface="Arial"/>
              <a:buNone/>
              <a:defRPr sz="4800">
                <a:solidFill>
                  <a:srgbClr val="FBFBF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subTitle"/>
          </p:nvPr>
        </p:nvSpPr>
        <p:spPr>
          <a:xfrm>
            <a:off x="483873" y="2001841"/>
            <a:ext cx="8980166" cy="54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BFBFB"/>
              </a:buClr>
              <a:buSzPts val="1399"/>
              <a:buFont typeface="Arial"/>
              <a:buNone/>
              <a:defRPr sz="3200">
                <a:solidFill>
                  <a:srgbClr val="FBFBFB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3"/>
          <p:cNvSpPr/>
          <p:nvPr/>
        </p:nvSpPr>
        <p:spPr>
          <a:xfrm>
            <a:off x="292608" y="6400800"/>
            <a:ext cx="603504" cy="347472"/>
          </a:xfrm>
          <a:prstGeom prst="rect">
            <a:avLst/>
          </a:prstGeom>
          <a:solidFill>
            <a:srgbClr val="32112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CEB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/>
          <p:nvPr>
            <p:ph idx="2" type="pic"/>
          </p:nvPr>
        </p:nvSpPr>
        <p:spPr>
          <a:xfrm>
            <a:off x="8787127" y="3754517"/>
            <a:ext cx="2920995" cy="2867028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3"/>
          <p:cNvSpPr txBox="1"/>
          <p:nvPr>
            <p:ph idx="3" type="body"/>
          </p:nvPr>
        </p:nvSpPr>
        <p:spPr>
          <a:xfrm>
            <a:off x="483873" y="2687641"/>
            <a:ext cx="7155774" cy="3423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BFBFB"/>
              </a:buClr>
              <a:buSzPts val="1399"/>
              <a:buFont typeface="Arial"/>
              <a:buNone/>
              <a:defRPr sz="1800">
                <a:solidFill>
                  <a:srgbClr val="FBFB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4" type="body"/>
          </p:nvPr>
        </p:nvSpPr>
        <p:spPr>
          <a:xfrm>
            <a:off x="498951" y="3961720"/>
            <a:ext cx="5811834" cy="319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BFBFB"/>
              </a:buClr>
              <a:buSzPts val="1399"/>
              <a:buFont typeface="Arial"/>
              <a:buNone/>
              <a:defRPr sz="1800">
                <a:solidFill>
                  <a:srgbClr val="FBFB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/>
        </p:nvSpPr>
        <p:spPr>
          <a:xfrm>
            <a:off x="9961583" y="2151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3"/>
          <p:cNvSpPr txBox="1"/>
          <p:nvPr/>
        </p:nvSpPr>
        <p:spPr>
          <a:xfrm>
            <a:off x="9692640" y="-860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3"/>
          <p:cNvSpPr txBox="1"/>
          <p:nvPr/>
        </p:nvSpPr>
        <p:spPr>
          <a:xfrm>
            <a:off x="3571536" y="541109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3"/>
          <p:cNvSpPr txBox="1"/>
          <p:nvPr/>
        </p:nvSpPr>
        <p:spPr>
          <a:xfrm>
            <a:off x="4452725" y="600323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538" y="5782043"/>
            <a:ext cx="2542032" cy="99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IllustrPOWER_USER_LAYOUT_AGENDA">
  <p:cSld name="Agenda IllustrPOWER_USER_LAYOUT_AGENDA">
    <p:bg>
      <p:bgPr>
        <a:solidFill>
          <a:srgbClr val="32112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4"/>
          <p:cNvPicPr preferRelativeResize="0"/>
          <p:nvPr/>
        </p:nvPicPr>
        <p:blipFill rotWithShape="1">
          <a:blip r:embed="rId3">
            <a:alphaModFix/>
          </a:blip>
          <a:srcRect b="12681" l="2708" r="62679" t="59731"/>
          <a:stretch/>
        </p:blipFill>
        <p:spPr>
          <a:xfrm>
            <a:off x="0" y="-23719"/>
            <a:ext cx="12191996" cy="688171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251204" y="763853"/>
            <a:ext cx="7561429" cy="5399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Char char="•"/>
              <a:defRPr b="1" sz="3600"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 b="1" sz="3600"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 b="1" sz="3600"/>
            </a:lvl4pPr>
            <a:lvl5pPr indent="-406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11156091" y="763853"/>
            <a:ext cx="719998" cy="5399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1120"/>
              </a:buClr>
              <a:buSzPts val="1399"/>
              <a:buFont typeface="Arial"/>
              <a:buNone/>
              <a:defRPr>
                <a:solidFill>
                  <a:srgbClr val="32112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1120"/>
              </a:buClr>
              <a:buSzPts val="2800"/>
              <a:buNone/>
              <a:defRPr sz="2800">
                <a:solidFill>
                  <a:srgbClr val="32112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1120"/>
              </a:buClr>
              <a:buSzPts val="2800"/>
              <a:buNone/>
              <a:defRPr sz="2800">
                <a:solidFill>
                  <a:srgbClr val="321120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/>
          <p:nvPr/>
        </p:nvSpPr>
        <p:spPr>
          <a:xfrm>
            <a:off x="354997" y="6395231"/>
            <a:ext cx="403616" cy="365129"/>
          </a:xfrm>
          <a:custGeom>
            <a:rect b="b" l="l" r="r" t="t"/>
            <a:pathLst>
              <a:path extrusionOk="0" h="365125" w="403616">
                <a:moveTo>
                  <a:pt x="96551" y="0"/>
                </a:moveTo>
                <a:lnTo>
                  <a:pt x="403616" y="0"/>
                </a:lnTo>
                <a:lnTo>
                  <a:pt x="403616" y="365125"/>
                </a:lnTo>
                <a:lnTo>
                  <a:pt x="0" y="365125"/>
                </a:lnTo>
                <a:lnTo>
                  <a:pt x="96551" y="0"/>
                </a:lnTo>
                <a:close/>
              </a:path>
            </a:pathLst>
          </a:custGeom>
          <a:solidFill>
            <a:srgbClr val="FCF7F9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CEB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4"/>
          <p:cNvSpPr txBox="1"/>
          <p:nvPr>
            <p:ph idx="3" type="body"/>
          </p:nvPr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99"/>
              <a:buFont typeface="Arial"/>
              <a:buNone/>
              <a:defRPr sz="1400"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2" name="Google Shape;4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Model4POWER_USER_LAYOUT_DIVIDER_CUSTOM">
  <p:cSld name="1_Section Model4POWER_USER_LAYOUT_DIVIDER_CUSTOM">
    <p:bg>
      <p:bgPr>
        <a:solidFill>
          <a:srgbClr val="FBFBFB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818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4856442" y="1019327"/>
            <a:ext cx="7020004" cy="4859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6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6600"/>
              <a:buNone/>
              <a:defRPr sz="66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4856442" y="6395231"/>
            <a:ext cx="6379009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ine avec cartouche">
  <p:cSld name="Pleine avec cartouche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335283" y="1487993"/>
            <a:ext cx="11521440" cy="467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2" type="body"/>
          </p:nvPr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 de contact 3 profils">
  <p:cSld name="Point de contact 3 profils">
    <p:bg>
      <p:bgPr>
        <a:solidFill>
          <a:srgbClr val="FBFBF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7"/>
          <p:cNvSpPr/>
          <p:nvPr>
            <p:ph idx="2" type="pic"/>
          </p:nvPr>
        </p:nvSpPr>
        <p:spPr>
          <a:xfrm>
            <a:off x="1462116" y="2175805"/>
            <a:ext cx="2351178" cy="170044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1354893" y="4342979"/>
            <a:ext cx="2565632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3" type="body"/>
          </p:nvPr>
        </p:nvSpPr>
        <p:spPr>
          <a:xfrm>
            <a:off x="1354893" y="4802913"/>
            <a:ext cx="2565632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7"/>
          <p:cNvSpPr/>
          <p:nvPr>
            <p:ph idx="4" type="pic"/>
          </p:nvPr>
        </p:nvSpPr>
        <p:spPr>
          <a:xfrm rot="10799991">
            <a:off x="4920414" y="2175805"/>
            <a:ext cx="2351178" cy="170044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7"/>
          <p:cNvSpPr txBox="1"/>
          <p:nvPr>
            <p:ph idx="5" type="body"/>
          </p:nvPr>
        </p:nvSpPr>
        <p:spPr>
          <a:xfrm>
            <a:off x="4813182" y="4342979"/>
            <a:ext cx="2565632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6" type="body"/>
          </p:nvPr>
        </p:nvSpPr>
        <p:spPr>
          <a:xfrm>
            <a:off x="4813182" y="4802913"/>
            <a:ext cx="2565632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7"/>
          <p:cNvSpPr/>
          <p:nvPr>
            <p:ph idx="7" type="pic"/>
          </p:nvPr>
        </p:nvSpPr>
        <p:spPr>
          <a:xfrm>
            <a:off x="8378702" y="2175805"/>
            <a:ext cx="2351178" cy="170044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 txBox="1"/>
          <p:nvPr>
            <p:ph idx="8" type="body"/>
          </p:nvPr>
        </p:nvSpPr>
        <p:spPr>
          <a:xfrm>
            <a:off x="8271479" y="4342979"/>
            <a:ext cx="2565632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9" type="body"/>
          </p:nvPr>
        </p:nvSpPr>
        <p:spPr>
          <a:xfrm>
            <a:off x="8271479" y="4802913"/>
            <a:ext cx="2565632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ure Purple" type="blank">
  <p:cSld name="BLANK">
    <p:bg>
      <p:bgPr>
        <a:solidFill>
          <a:srgbClr val="3211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 amt="5000"/>
          </a:blip>
          <a:srcRect b="37473" l="34229" r="34229" t="37473"/>
          <a:stretch/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308756" y="6353296"/>
            <a:ext cx="463134" cy="415640"/>
          </a:xfrm>
          <a:prstGeom prst="rect">
            <a:avLst/>
          </a:prstGeom>
          <a:solidFill>
            <a:srgbClr val="3C1D2A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ECEB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0234" y="2328766"/>
            <a:ext cx="3831537" cy="220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ine ss cartouche">
  <p:cSld name="Pleine ss cartouche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35283" y="1487993"/>
            <a:ext cx="11521440" cy="467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que ss cartouche">
  <p:cSld name="Basique ss cartouche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que avec Cartouche">
  <p:cSld name="Basique avec Cartouche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erge">
  <p:cSld name="1_Vierge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 ss cartouche">
  <p:cSld name="Tableau ss cartouche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3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simple">
  <p:cSld name="2 colonnes simple"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335283" y="1487993"/>
            <a:ext cx="5579997" cy="38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2" type="body"/>
          </p:nvPr>
        </p:nvSpPr>
        <p:spPr>
          <a:xfrm>
            <a:off x="335283" y="2100669"/>
            <a:ext cx="5579997" cy="4120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3" type="body"/>
          </p:nvPr>
        </p:nvSpPr>
        <p:spPr>
          <a:xfrm>
            <a:off x="6280711" y="1487993"/>
            <a:ext cx="5579997" cy="38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4" type="body"/>
          </p:nvPr>
        </p:nvSpPr>
        <p:spPr>
          <a:xfrm>
            <a:off x="6296439" y="2100669"/>
            <a:ext cx="5579997" cy="4120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5" type="body"/>
          </p:nvPr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ss cartouche">
  <p:cSld name="2 colonnes ss cartouche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6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335283" y="1487993"/>
            <a:ext cx="5579997" cy="38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2" type="body"/>
          </p:nvPr>
        </p:nvSpPr>
        <p:spPr>
          <a:xfrm>
            <a:off x="335283" y="2100669"/>
            <a:ext cx="5579997" cy="41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3" type="body"/>
          </p:nvPr>
        </p:nvSpPr>
        <p:spPr>
          <a:xfrm>
            <a:off x="6276715" y="1487993"/>
            <a:ext cx="5579997" cy="38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4" type="body"/>
          </p:nvPr>
        </p:nvSpPr>
        <p:spPr>
          <a:xfrm>
            <a:off x="6296439" y="2100669"/>
            <a:ext cx="5579997" cy="41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oint de contact 3 profils">
  <p:cSld name="1_Point de contact 3 profils">
    <p:bg>
      <p:bgPr>
        <a:solidFill>
          <a:srgbClr val="FBFBF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7"/>
          <p:cNvSpPr/>
          <p:nvPr>
            <p:ph idx="2" type="pic"/>
          </p:nvPr>
        </p:nvSpPr>
        <p:spPr>
          <a:xfrm rot="10799991">
            <a:off x="2916378" y="2335368"/>
            <a:ext cx="2150284" cy="1555165"/>
          </a:xfrm>
          <a:prstGeom prst="rect">
            <a:avLst/>
          </a:prstGeom>
          <a:noFill/>
          <a:ln>
            <a:noFill/>
          </a:ln>
        </p:spPr>
      </p:sp>
      <p:pic>
        <p:nvPicPr>
          <p:cNvPr id="133" name="Google Shape;1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5" name="Google Shape;13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7"/>
          <p:cNvSpPr/>
          <p:nvPr>
            <p:ph idx="3" type="pic"/>
          </p:nvPr>
        </p:nvSpPr>
        <p:spPr>
          <a:xfrm>
            <a:off x="454914" y="2335377"/>
            <a:ext cx="2150284" cy="1555165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454914" y="4357271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4" type="body"/>
          </p:nvPr>
        </p:nvSpPr>
        <p:spPr>
          <a:xfrm>
            <a:off x="454914" y="4817196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7"/>
          <p:cNvSpPr/>
          <p:nvPr>
            <p:ph idx="5" type="pic"/>
          </p:nvPr>
        </p:nvSpPr>
        <p:spPr>
          <a:xfrm rot="10799991">
            <a:off x="2737887" y="2335368"/>
            <a:ext cx="2150284" cy="155516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7"/>
          <p:cNvSpPr/>
          <p:nvPr>
            <p:ph idx="6" type="pic"/>
          </p:nvPr>
        </p:nvSpPr>
        <p:spPr>
          <a:xfrm>
            <a:off x="5020851" y="2335377"/>
            <a:ext cx="2150284" cy="1555165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7"/>
          <p:cNvSpPr/>
          <p:nvPr>
            <p:ph idx="7" type="pic"/>
          </p:nvPr>
        </p:nvSpPr>
        <p:spPr>
          <a:xfrm rot="10799991">
            <a:off x="7303825" y="2335368"/>
            <a:ext cx="2150284" cy="1555165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7"/>
          <p:cNvSpPr/>
          <p:nvPr>
            <p:ph idx="8" type="pic"/>
          </p:nvPr>
        </p:nvSpPr>
        <p:spPr>
          <a:xfrm>
            <a:off x="9586798" y="2335377"/>
            <a:ext cx="2150284" cy="155516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7"/>
          <p:cNvSpPr txBox="1"/>
          <p:nvPr>
            <p:ph idx="9" type="body"/>
          </p:nvPr>
        </p:nvSpPr>
        <p:spPr>
          <a:xfrm>
            <a:off x="2737887" y="4357271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13" type="body"/>
          </p:nvPr>
        </p:nvSpPr>
        <p:spPr>
          <a:xfrm>
            <a:off x="2737887" y="4817196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4" type="body"/>
          </p:nvPr>
        </p:nvSpPr>
        <p:spPr>
          <a:xfrm>
            <a:off x="5020851" y="4357271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5" type="body"/>
          </p:nvPr>
        </p:nvSpPr>
        <p:spPr>
          <a:xfrm>
            <a:off x="5020851" y="4817196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16" type="body"/>
          </p:nvPr>
        </p:nvSpPr>
        <p:spPr>
          <a:xfrm>
            <a:off x="7303824" y="4357271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17" type="body"/>
          </p:nvPr>
        </p:nvSpPr>
        <p:spPr>
          <a:xfrm>
            <a:off x="7303824" y="4817196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8" type="body"/>
          </p:nvPr>
        </p:nvSpPr>
        <p:spPr>
          <a:xfrm>
            <a:off x="9586798" y="4357271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9" type="body"/>
          </p:nvPr>
        </p:nvSpPr>
        <p:spPr>
          <a:xfrm>
            <a:off x="9586798" y="4817196"/>
            <a:ext cx="2150284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 de contact">
  <p:cSld name="Point de contact">
    <p:bg>
      <p:bgPr>
        <a:solidFill>
          <a:srgbClr val="FBFB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8"/>
          <p:cNvSpPr/>
          <p:nvPr>
            <p:ph idx="2" type="pic"/>
          </p:nvPr>
        </p:nvSpPr>
        <p:spPr>
          <a:xfrm>
            <a:off x="4734936" y="1928606"/>
            <a:ext cx="2722123" cy="196873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8"/>
          <p:cNvSpPr txBox="1"/>
          <p:nvPr>
            <p:ph idx="3" type="body"/>
          </p:nvPr>
        </p:nvSpPr>
        <p:spPr>
          <a:xfrm>
            <a:off x="4331494" y="4357271"/>
            <a:ext cx="3529017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0" name="Google Shape;16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>
            <p:ph idx="4" type="body"/>
          </p:nvPr>
        </p:nvSpPr>
        <p:spPr>
          <a:xfrm>
            <a:off x="4331494" y="4817196"/>
            <a:ext cx="3529017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28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 de contact ss cartouche">
  <p:cSld name="Point de contact ss cartouche">
    <p:bg>
      <p:bgPr>
        <a:solidFill>
          <a:srgbClr val="FBFBF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 txBox="1"/>
          <p:nvPr>
            <p:ph type="title"/>
          </p:nvPr>
        </p:nvSpPr>
        <p:spPr>
          <a:xfrm>
            <a:off x="335283" y="772603"/>
            <a:ext cx="11521440" cy="490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/>
          <p:nvPr>
            <p:ph idx="2" type="pic"/>
          </p:nvPr>
        </p:nvSpPr>
        <p:spPr>
          <a:xfrm>
            <a:off x="4734936" y="1928606"/>
            <a:ext cx="2722123" cy="196873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4331494" y="4357271"/>
            <a:ext cx="3529017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3" type="body"/>
          </p:nvPr>
        </p:nvSpPr>
        <p:spPr>
          <a:xfrm>
            <a:off x="4331494" y="4817196"/>
            <a:ext cx="3529017" cy="365129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1" type="ftr"/>
          </p:nvPr>
        </p:nvSpPr>
        <p:spPr>
          <a:xfrm>
            <a:off x="831308" y="6395231"/>
            <a:ext cx="1040414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966d3c384_2_6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2" name="Google Shape;182;g3d966d3c384_2_6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3" name="Google Shape;183;g3d966d3c384_2_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g3d966d3c384_2_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descr="image.png" id="185" name="Google Shape;185;g3d966d3c384_2_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86" name="Google Shape;186;g3d966d3c384_2_6"/>
            <p:cNvPicPr preferRelativeResize="0"/>
            <p:nvPr/>
          </p:nvPicPr>
          <p:blipFill rotWithShape="1">
            <a:blip r:embed="rId3">
              <a:alphaModFix/>
            </a:blip>
            <a:srcRect b="0" l="0" r="0" t="1112"/>
            <a:stretch/>
          </p:blipFill>
          <p:spPr>
            <a:xfrm>
              <a:off x="0" y="76200"/>
              <a:ext cx="12192000" cy="678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66d3c384_2_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9" name="Google Shape;189;g3d966d3c384_2_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g3d966d3c384_2_13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g3d966d3c384_2_13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2" name="Google Shape;192;g3d966d3c384_2_1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966d3c384_2_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5" name="Google Shape;195;g3d966d3c384_2_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6" name="Google Shape;196;g3d966d3c384_2_19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7" name="Google Shape;197;g3d966d3c384_2_19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8" name="Google Shape;198;g3d966d3c384_2_1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66d3c384_2_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1" name="Google Shape;201;g3d966d3c384_2_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2" name="Google Shape;202;g3d966d3c384_2_25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3" name="Google Shape;203;g3d966d3c384_2_25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" name="Google Shape;204;g3d966d3c384_2_2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966d3c384_2_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7" name="Google Shape;207;g3d966d3c384_2_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208" name="Google Shape;208;g3d966d3c384_2_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209" name="Google Shape;209;g3d966d3c384_2_3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0" name="Google Shape;210;g3d966d3c384_2_3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1" name="Google Shape;211;g3d966d3c384_2_3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966d3c384_2_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4" name="Google Shape;214;g3d966d3c384_2_38"/>
          <p:cNvSpPr txBox="1"/>
          <p:nvPr>
            <p:ph idx="1" type="body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5" name="Google Shape;215;g3d966d3c384_2_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6" name="Google Shape;216;g3d966d3c384_2_38"/>
          <p:cNvSpPr txBox="1"/>
          <p:nvPr>
            <p:ph idx="3" type="body"/>
          </p:nvPr>
        </p:nvSpPr>
        <p:spPr>
          <a:xfrm>
            <a:off x="4645025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7" name="Google Shape;217;g3d966d3c384_2_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8" name="Google Shape;218;g3d966d3c384_2_38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9" name="Google Shape;219;g3d966d3c384_2_38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0" name="Google Shape;220;g3d966d3c384_2_3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966d3c384_2_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3" name="Google Shape;223;g3d966d3c384_2_47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g3d966d3c384_2_47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5" name="Google Shape;225;g3d966d3c384_2_4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966d3c384_2_52"/>
          <p:cNvSpPr txBox="1"/>
          <p:nvPr>
            <p:ph type="title"/>
          </p:nvPr>
        </p:nvSpPr>
        <p:spPr>
          <a:xfrm>
            <a:off x="457200" y="273051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8" name="Google Shape;228;g3d966d3c384_2_52"/>
          <p:cNvSpPr txBox="1"/>
          <p:nvPr>
            <p:ph idx="1" type="body"/>
          </p:nvPr>
        </p:nvSpPr>
        <p:spPr>
          <a:xfrm>
            <a:off x="3575049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g3d966d3c384_2_5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0" name="Google Shape;230;g3d966d3c384_2_5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1" name="Google Shape;231;g3d966d3c384_2_5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2" name="Google Shape;232;g3d966d3c384_2_5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966d3c384_2_59"/>
          <p:cNvSpPr txBox="1"/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5" name="Google Shape;235;g3d966d3c384_2_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g3d966d3c384_2_59"/>
          <p:cNvSpPr txBox="1"/>
          <p:nvPr>
            <p:ph idx="1" type="body"/>
          </p:nvPr>
        </p:nvSpPr>
        <p:spPr>
          <a:xfrm>
            <a:off x="1792288" y="5367337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7" name="Google Shape;237;g3d966d3c384_2_59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8" name="Google Shape;238;g3d966d3c384_2_59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9" name="Google Shape;239;g3d966d3c384_2_5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966d3c384_2_6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2" name="Google Shape;242;g3d966d3c384_2_66"/>
          <p:cNvSpPr txBox="1"/>
          <p:nvPr>
            <p:ph idx="1" type="body"/>
          </p:nvPr>
        </p:nvSpPr>
        <p:spPr>
          <a:xfrm rot="5400000">
            <a:off x="2309019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43" name="Google Shape;243;g3d966d3c384_2_66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4" name="Google Shape;244;g3d966d3c384_2_66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5" name="Google Shape;245;g3d966d3c384_2_6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966d3c384_2_72"/>
          <p:cNvSpPr txBox="1"/>
          <p:nvPr>
            <p:ph type="title"/>
          </p:nvPr>
        </p:nvSpPr>
        <p:spPr>
          <a:xfrm rot="5400000">
            <a:off x="4732339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8" name="Google Shape;248;g3d966d3c384_2_72"/>
          <p:cNvSpPr txBox="1"/>
          <p:nvPr>
            <p:ph idx="1" type="body"/>
          </p:nvPr>
        </p:nvSpPr>
        <p:spPr>
          <a:xfrm rot="5400000">
            <a:off x="541337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49" name="Google Shape;249;g3d966d3c384_2_7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0" name="Google Shape;250;g3d966d3c384_2_7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1" name="Google Shape;251;g3d966d3c384_2_7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335283" y="618564"/>
            <a:ext cx="11521440" cy="656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335283" y="1469879"/>
            <a:ext cx="11521440" cy="467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436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Char char="•"/>
              <a:defRPr b="0" i="0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831308" y="6395231"/>
            <a:ext cx="10423593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112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2112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1357323" y="6395231"/>
            <a:ext cx="519114" cy="365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1631" y="6370460"/>
            <a:ext cx="505608" cy="4096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66d3c384_2_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g3d966d3c384_2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g3d966d3c384_2_0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g3d966d3c384_2_0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g3d966d3c384_2_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"/>
          <p:cNvSpPr txBox="1"/>
          <p:nvPr>
            <p:ph type="title"/>
          </p:nvPr>
        </p:nvSpPr>
        <p:spPr>
          <a:xfrm>
            <a:off x="498950" y="847975"/>
            <a:ext cx="95673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4800"/>
              <a:buFont typeface="Arial"/>
              <a:buNone/>
            </a:pPr>
            <a:r>
              <a:rPr b="1" lang="en-US">
                <a:latin typeface="Urbanist"/>
                <a:ea typeface="Urbanist"/>
                <a:cs typeface="Urbanist"/>
                <a:sym typeface="Urbanist"/>
              </a:rPr>
              <a:t>Title</a:t>
            </a:r>
            <a:endParaRPr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"/>
          <p:cNvSpPr txBox="1"/>
          <p:nvPr>
            <p:ph idx="4294967295" type="subTitle"/>
          </p:nvPr>
        </p:nvSpPr>
        <p:spPr>
          <a:xfrm>
            <a:off x="498948" y="2605666"/>
            <a:ext cx="8980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64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99"/>
              <a:buFont typeface="Arial"/>
              <a:buNone/>
            </a:pPr>
            <a:r>
              <a:rPr b="1" lang="en-US">
                <a:solidFill>
                  <a:srgbClr val="FBFBFB"/>
                </a:solidFill>
                <a:latin typeface="Urbanist"/>
                <a:ea typeface="Urbanist"/>
                <a:cs typeface="Urbanist"/>
                <a:sym typeface="Urbanist"/>
              </a:rPr>
              <a:t>Sub-Title</a:t>
            </a:r>
            <a:endParaRPr b="1" i="0" sz="2800" u="none" cap="none" strike="noStrike">
              <a:solidFill>
                <a:srgbClr val="FBFBF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8" name="Google Shape;258;p1"/>
          <p:cNvSpPr/>
          <p:nvPr>
            <p:ph idx="2" type="pic"/>
          </p:nvPr>
        </p:nvSpPr>
        <p:spPr>
          <a:xfrm>
            <a:off x="8787127" y="3754517"/>
            <a:ext cx="2920995" cy="2867028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1"/>
          <p:cNvSpPr txBox="1"/>
          <p:nvPr>
            <p:ph idx="4294967295" type="body"/>
          </p:nvPr>
        </p:nvSpPr>
        <p:spPr>
          <a:xfrm>
            <a:off x="498950" y="3291475"/>
            <a:ext cx="5989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7500" lnSpcReduction="20000"/>
          </a:bodyPr>
          <a:lstStyle/>
          <a:p>
            <a:pPr indent="-13976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49964"/>
              <a:buFont typeface="Arial"/>
              <a:buNone/>
            </a:pPr>
            <a:r>
              <a:rPr b="1" lang="en-US">
                <a:solidFill>
                  <a:srgbClr val="FBFBFB"/>
                </a:solidFill>
                <a:latin typeface="Urbanist"/>
                <a:ea typeface="Urbanist"/>
                <a:cs typeface="Urbanist"/>
                <a:sym typeface="Urbanist"/>
              </a:rPr>
              <a:t>Sub-Sub-Title</a:t>
            </a:r>
            <a:endParaRPr b="1">
              <a:solidFill>
                <a:srgbClr val="FBFBF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0" name="Google Shape;260;p1"/>
          <p:cNvSpPr txBox="1"/>
          <p:nvPr>
            <p:ph idx="4294967295" type="body"/>
          </p:nvPr>
        </p:nvSpPr>
        <p:spPr>
          <a:xfrm>
            <a:off x="498950" y="4574525"/>
            <a:ext cx="55209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1399"/>
              <a:buFont typeface="Arial"/>
              <a:buNone/>
            </a:pPr>
            <a:r>
              <a:rPr lang="en-US" sz="1800">
                <a:solidFill>
                  <a:srgbClr val="FBFBF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19 février 2026</a:t>
            </a:r>
            <a:endParaRPr sz="1800">
              <a:solidFill>
                <a:srgbClr val="FBFBFB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"/>
          <p:cNvSpPr/>
          <p:nvPr/>
        </p:nvSpPr>
        <p:spPr>
          <a:xfrm>
            <a:off x="354997" y="260704"/>
            <a:ext cx="2064642" cy="287341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Agenda</a:t>
            </a:r>
            <a:endParaRPr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66" name="Google Shape;266;p3">
            <a:hlinkClick action="ppaction://hlinksldjump" r:id="rId3"/>
          </p:cNvPr>
          <p:cNvSpPr/>
          <p:nvPr/>
        </p:nvSpPr>
        <p:spPr>
          <a:xfrm>
            <a:off x="3667825" y="2609375"/>
            <a:ext cx="83088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875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Urbanist"/>
              <a:buAutoNum type="arabicPeriod"/>
            </a:pPr>
            <a:r>
              <a:rPr b="1" i="0" lang="en-US" sz="3600" u="none" cap="none" strike="noStrike">
                <a:solidFill>
                  <a:srgbClr val="111111"/>
                </a:solidFill>
                <a:latin typeface="Urbanist"/>
                <a:ea typeface="Urbanist"/>
                <a:cs typeface="Urbanist"/>
                <a:sym typeface="Urbanist"/>
              </a:rPr>
              <a:t>Rubrique                                                </a:t>
            </a:r>
            <a:endParaRPr b="1" i="0" sz="3600" u="none" cap="none" strike="noStrike">
              <a:solidFill>
                <a:srgbClr val="11111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Urbanist"/>
              <a:buAutoNum type="arabicPeriod"/>
            </a:pPr>
            <a:r>
              <a:rPr b="1" lang="en-US" sz="3600">
                <a:solidFill>
                  <a:srgbClr val="111111"/>
                </a:solidFill>
                <a:latin typeface="Urbanist"/>
                <a:ea typeface="Urbanist"/>
                <a:cs typeface="Urbanist"/>
                <a:sym typeface="Urbanist"/>
              </a:rPr>
              <a:t>Rubrique                                                </a:t>
            </a:r>
            <a:endParaRPr b="1" sz="3600">
              <a:solidFill>
                <a:srgbClr val="11111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Urbanist"/>
              <a:buAutoNum type="arabicPeriod"/>
            </a:pPr>
            <a:r>
              <a:rPr b="1" lang="en-US" sz="3600">
                <a:solidFill>
                  <a:srgbClr val="111111"/>
                </a:solidFill>
                <a:latin typeface="Urbanist"/>
                <a:ea typeface="Urbanist"/>
                <a:cs typeface="Urbanist"/>
                <a:sym typeface="Urbanist"/>
              </a:rPr>
              <a:t>Rubrique                                                </a:t>
            </a:r>
            <a:endParaRPr b="1" sz="3600">
              <a:solidFill>
                <a:srgbClr val="11111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Urbanist"/>
              <a:buAutoNum type="arabicPeriod"/>
            </a:pPr>
            <a:r>
              <a:rPr b="1" lang="en-US" sz="3600">
                <a:solidFill>
                  <a:srgbClr val="111111"/>
                </a:solidFill>
                <a:latin typeface="Urbanist"/>
                <a:ea typeface="Urbanist"/>
                <a:cs typeface="Urbanist"/>
                <a:sym typeface="Urbanist"/>
              </a:rPr>
              <a:t>Rubrique                                               </a:t>
            </a:r>
            <a:endParaRPr b="1" sz="3600">
              <a:solidFill>
                <a:srgbClr val="11111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"/>
          <p:cNvSpPr/>
          <p:nvPr/>
        </p:nvSpPr>
        <p:spPr>
          <a:xfrm>
            <a:off x="6223415" y="999000"/>
            <a:ext cx="5853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600"/>
              <a:buFont typeface="Arial"/>
              <a:buNone/>
            </a:pPr>
            <a:r>
              <a:rPr b="1" i="0" lang="en-US" sz="5400" u="none" cap="none" strike="noStrike">
                <a:solidFill>
                  <a:srgbClr val="111111"/>
                </a:solidFill>
                <a:latin typeface="Urbanist"/>
                <a:ea typeface="Urbanist"/>
                <a:cs typeface="Urbanist"/>
                <a:sym typeface="Urbanist"/>
              </a:rPr>
              <a:t>Rubrique</a:t>
            </a:r>
            <a:endParaRPr b="1" sz="2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3047996" y="4203697"/>
            <a:ext cx="8889997" cy="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4825227" y="2928775"/>
            <a:ext cx="1284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11111"/>
                </a:solidFill>
                <a:latin typeface="Urbanist"/>
                <a:ea typeface="Urbanist"/>
                <a:cs typeface="Urbanist"/>
                <a:sym typeface="Urbanist"/>
              </a:rPr>
              <a:t>01.</a:t>
            </a:r>
            <a:endParaRPr b="1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g3dab5b0c0aa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437507"/>
            <a:ext cx="4810126" cy="363944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dab5b0c0aa_2_0"/>
          <p:cNvSpPr txBox="1"/>
          <p:nvPr/>
        </p:nvSpPr>
        <p:spPr>
          <a:xfrm>
            <a:off x="762000" y="571500"/>
            <a:ext cx="1120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Transformation et fidélisation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dab5b0c0aa_2_0"/>
          <p:cNvSpPr txBox="1"/>
          <p:nvPr/>
        </p:nvSpPr>
        <p:spPr>
          <a:xfrm>
            <a:off x="1033077" y="2565320"/>
            <a:ext cx="4420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TRANSFO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dab5b0c0aa_2_0"/>
          <p:cNvSpPr txBox="1"/>
          <p:nvPr/>
        </p:nvSpPr>
        <p:spPr>
          <a:xfrm>
            <a:off x="1227944" y="3225200"/>
            <a:ext cx="44205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Moderniser notre infrastructure IT, automatiser les tâches répétitives et former nos équipes aux nouveaux outils.</a:t>
            </a:r>
            <a:endParaRPr b="0" i="0" sz="1700" u="none" cap="none" strike="noStrike">
              <a:solidFill>
                <a:srgbClr val="5C4B5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921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3D1A2B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Moderniser infrastructure IT</a:t>
            </a:r>
            <a:endParaRPr b="0" i="0" sz="17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921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3D1A2B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Automatiser tâches répétitives</a:t>
            </a:r>
            <a:endParaRPr b="0" i="0" sz="17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921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3D1A2B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Former équipes aux nouveaux outils</a:t>
            </a:r>
            <a:endParaRPr b="0" i="0" sz="17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g3dab5b0c0aa_2_0"/>
          <p:cNvSpPr txBox="1"/>
          <p:nvPr/>
        </p:nvSpPr>
        <p:spPr>
          <a:xfrm>
            <a:off x="742951" y="1380232"/>
            <a:ext cx="10782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Notre entreprise fait face à deux défis majeurs en 2025.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3" name="Google Shape;283;g3dab5b0c0aa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6025" y="2437505"/>
            <a:ext cx="5229225" cy="363944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dab5b0c0aa_2_0"/>
          <p:cNvSpPr txBox="1"/>
          <p:nvPr/>
        </p:nvSpPr>
        <p:spPr>
          <a:xfrm>
            <a:off x="6749068" y="3158000"/>
            <a:ext cx="45816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Renforcer notre programme de </a:t>
            </a:r>
            <a:r>
              <a:rPr b="1" i="0" lang="en-US" sz="17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fidélité</a:t>
            </a:r>
            <a:r>
              <a:rPr b="0" i="0" lang="en-US" sz="17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, améliorer l'expérience client et réduire le taux de </a:t>
            </a:r>
            <a:r>
              <a:rPr b="1" i="0" lang="en-US" sz="17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churn</a:t>
            </a:r>
            <a:r>
              <a:rPr b="0" i="0" lang="en-US" sz="17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 de 15% observé ce trimestre.</a:t>
            </a:r>
            <a:endParaRPr b="0" i="0" sz="1700" u="none" cap="none" strike="noStrike">
              <a:solidFill>
                <a:srgbClr val="5C4B5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921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D1A2B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Renforcer programme de </a:t>
            </a:r>
            <a:r>
              <a:rPr b="1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fidélité</a:t>
            </a:r>
            <a:endParaRPr b="0" i="0" sz="17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921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3D1A2B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Améliorer expérience client</a:t>
            </a:r>
            <a:endParaRPr b="0" i="0" sz="17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921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3D1A2B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Réduire taux de </a:t>
            </a:r>
            <a:r>
              <a:rPr b="1" i="0" lang="en-US" sz="1700" u="none" cap="none" strike="noStrike">
                <a:solidFill>
                  <a:srgbClr val="3D1A2B"/>
                </a:solidFill>
                <a:latin typeface="Inter"/>
                <a:ea typeface="Inter"/>
                <a:cs typeface="Inter"/>
                <a:sym typeface="Inter"/>
              </a:rPr>
              <a:t>churn</a:t>
            </a:r>
            <a:endParaRPr b="0" i="0" sz="1700" u="none" cap="none" strike="noStrike">
              <a:solidFill>
                <a:srgbClr val="3D1A2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g3dab5b0c0aa_2_0"/>
          <p:cNvSpPr txBox="1"/>
          <p:nvPr/>
        </p:nvSpPr>
        <p:spPr>
          <a:xfrm>
            <a:off x="6553743" y="2565318"/>
            <a:ext cx="483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FIDÉLITÉ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966d3c384_2_78"/>
          <p:cNvSpPr txBox="1"/>
          <p:nvPr/>
        </p:nvSpPr>
        <p:spPr>
          <a:xfrm>
            <a:off x="990600" y="467475"/>
            <a:ext cx="1073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Grand titre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d966d3c384_2_78"/>
          <p:cNvSpPr/>
          <p:nvPr/>
        </p:nvSpPr>
        <p:spPr>
          <a:xfrm>
            <a:off x="762000" y="571500"/>
            <a:ext cx="95251" cy="502891"/>
          </a:xfrm>
          <a:prstGeom prst="rect">
            <a:avLst/>
          </a:prstGeom>
          <a:solidFill>
            <a:srgbClr val="3D1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g3d966d3c384_2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11" y="1828675"/>
            <a:ext cx="3482743" cy="441876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d966d3c384_2_78"/>
          <p:cNvSpPr txBox="1"/>
          <p:nvPr/>
        </p:nvSpPr>
        <p:spPr>
          <a:xfrm>
            <a:off x="531700" y="3512325"/>
            <a:ext cx="31131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Traitement des fichiers de réponse hétérogènes : Excel, PDF, E-mail, …. Analyse, extraction et normalisation des données </a:t>
            </a:r>
            <a:endParaRPr b="0" i="0" sz="1900" u="none" cap="none" strike="noStrike">
              <a:solidFill>
                <a:srgbClr val="5C4B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g3d966d3c384_2_78"/>
          <p:cNvSpPr txBox="1"/>
          <p:nvPr/>
        </p:nvSpPr>
        <p:spPr>
          <a:xfrm>
            <a:off x="337425" y="2025568"/>
            <a:ext cx="339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Extraction et normalisation des données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5" name="Google Shape;295;g3d966d3c384_2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2407" y="1828676"/>
            <a:ext cx="3482743" cy="441876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d966d3c384_2_78"/>
          <p:cNvSpPr txBox="1"/>
          <p:nvPr/>
        </p:nvSpPr>
        <p:spPr>
          <a:xfrm>
            <a:off x="4574164" y="3512336"/>
            <a:ext cx="3219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Consolider les données normalisées dans  la base de connaissance et identification des erreurs et des manquements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966d3c384_2_78"/>
          <p:cNvSpPr txBox="1"/>
          <p:nvPr/>
        </p:nvSpPr>
        <p:spPr>
          <a:xfrm>
            <a:off x="4574175" y="2025575"/>
            <a:ext cx="321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Consolidation et analyse des écarts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8" name="Google Shape;298;g3d966d3c384_2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859" y="1848312"/>
            <a:ext cx="3482743" cy="441876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d966d3c384_2_78"/>
          <p:cNvSpPr txBox="1"/>
          <p:nvPr/>
        </p:nvSpPr>
        <p:spPr>
          <a:xfrm>
            <a:off x="8503615" y="3531972"/>
            <a:ext cx="3219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4B53"/>
                </a:solidFill>
                <a:latin typeface="Inter"/>
                <a:ea typeface="Inter"/>
                <a:cs typeface="Inter"/>
                <a:sym typeface="Inter"/>
              </a:rPr>
              <a:t>Visualisation du paysage mondial des dupes par catégorie de données (zone géo et capacité de production, etc.)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966d3c384_2_78"/>
          <p:cNvSpPr txBox="1"/>
          <p:nvPr/>
        </p:nvSpPr>
        <p:spPr>
          <a:xfrm>
            <a:off x="8415664" y="2025568"/>
            <a:ext cx="339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Injection dans Power BI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g3dab5b0c0aa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99" y="2090375"/>
            <a:ext cx="11020425" cy="393471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dab5b0c0aa_4_0"/>
          <p:cNvSpPr txBox="1"/>
          <p:nvPr/>
        </p:nvSpPr>
        <p:spPr>
          <a:xfrm>
            <a:off x="762000" y="569851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D1A2B"/>
                </a:solidFill>
                <a:latin typeface="Urbanist"/>
                <a:ea typeface="Urbanist"/>
                <a:cs typeface="Urbanist"/>
                <a:sym typeface="Urbanist"/>
              </a:rPr>
              <a:t>LE CHALLENGE DE L'EXÉCUTION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Google Shape;307;g3dab5b0c0aa_4_0"/>
          <p:cNvGrpSpPr/>
          <p:nvPr/>
        </p:nvGrpSpPr>
        <p:grpSpPr>
          <a:xfrm>
            <a:off x="1162051" y="2435211"/>
            <a:ext cx="9867825" cy="665100"/>
            <a:chOff x="1143000" y="2762250"/>
            <a:chExt cx="9867825" cy="665100"/>
          </a:xfrm>
        </p:grpSpPr>
        <p:sp>
          <p:nvSpPr>
            <p:cNvPr id="308" name="Google Shape;308;g3dab5b0c0aa_4_0"/>
            <p:cNvSpPr txBox="1"/>
            <p:nvPr/>
          </p:nvSpPr>
          <p:spPr>
            <a:xfrm>
              <a:off x="1571625" y="2762250"/>
              <a:ext cx="9439200" cy="6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3D1A2B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Coût d'opportunité :</a:t>
              </a:r>
              <a:r>
                <a:rPr b="0" i="0" lang="en-US" sz="1900" u="none" cap="none" strike="noStrike">
                  <a:solidFill>
                    <a:srgbClr val="47556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 Mobilisation d'un consultant à mi-temps pendant 6/7 semaines alors qu’il peut être mobilisé sur un sujet à plus forte valeur ajoutée</a:t>
              </a:r>
              <a:endParaRPr b="0" i="0" sz="16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pic>
          <p:nvPicPr>
            <p:cNvPr descr="image.png" id="309" name="Google Shape;309;g3dab5b0c0aa_4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2805112"/>
              <a:ext cx="1905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0" name="Google Shape;310;g3dab5b0c0aa_4_0"/>
          <p:cNvGrpSpPr/>
          <p:nvPr/>
        </p:nvGrpSpPr>
        <p:grpSpPr>
          <a:xfrm>
            <a:off x="1143000" y="3462248"/>
            <a:ext cx="10286925" cy="689700"/>
            <a:chOff x="1143000" y="3293715"/>
            <a:chExt cx="10286925" cy="689700"/>
          </a:xfrm>
        </p:grpSpPr>
        <p:sp>
          <p:nvSpPr>
            <p:cNvPr id="311" name="Google Shape;311;g3dab5b0c0aa_4_0"/>
            <p:cNvSpPr txBox="1"/>
            <p:nvPr/>
          </p:nvSpPr>
          <p:spPr>
            <a:xfrm>
              <a:off x="1571625" y="3293715"/>
              <a:ext cx="98583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3D1A2B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Impact Intellectuel :</a:t>
              </a:r>
              <a:r>
                <a:rPr b="0" i="0" lang="en-US" sz="1900" u="none" cap="none" strike="noStrike">
                  <a:solidFill>
                    <a:srgbClr val="47556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 Temps détourné des sujets stratégiques à fort impact stratégique et intellectuel.</a:t>
              </a:r>
              <a:endParaRPr b="0" i="0" sz="16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pic>
          <p:nvPicPr>
            <p:cNvPr descr="image.png" id="312" name="Google Shape;312;g3dab5b0c0aa_4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000" y="3336577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3" name="Google Shape;313;g3dab5b0c0aa_4_0"/>
          <p:cNvGrpSpPr/>
          <p:nvPr/>
        </p:nvGrpSpPr>
        <p:grpSpPr>
          <a:xfrm>
            <a:off x="1162051" y="4434245"/>
            <a:ext cx="10286925" cy="689700"/>
            <a:chOff x="1143000" y="3825180"/>
            <a:chExt cx="10286925" cy="689700"/>
          </a:xfrm>
        </p:grpSpPr>
        <p:sp>
          <p:nvSpPr>
            <p:cNvPr id="314" name="Google Shape;314;g3dab5b0c0aa_4_0"/>
            <p:cNvSpPr txBox="1"/>
            <p:nvPr/>
          </p:nvSpPr>
          <p:spPr>
            <a:xfrm>
              <a:off x="1571625" y="3825180"/>
              <a:ext cx="98583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3D1A2B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Processus Artisanal :</a:t>
              </a:r>
              <a:r>
                <a:rPr b="0" i="0" lang="en-US" sz="1900" u="none" cap="none" strike="noStrike">
                  <a:solidFill>
                    <a:srgbClr val="47556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 Tâches manuelles non gratifiantes, non standardisées et dépendantes de l'individu.</a:t>
              </a:r>
              <a:endParaRPr b="0" i="0" sz="16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pic>
          <p:nvPicPr>
            <p:cNvPr descr="image.png" id="315" name="Google Shape;315;g3dab5b0c0aa_4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43000" y="3868042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g3dab5b0c0aa_4_0"/>
          <p:cNvGrpSpPr/>
          <p:nvPr/>
        </p:nvGrpSpPr>
        <p:grpSpPr>
          <a:xfrm>
            <a:off x="1162051" y="5433763"/>
            <a:ext cx="10286925" cy="300039"/>
            <a:chOff x="1143000" y="4649985"/>
            <a:chExt cx="10286925" cy="300038"/>
          </a:xfrm>
        </p:grpSpPr>
        <p:sp>
          <p:nvSpPr>
            <p:cNvPr id="317" name="Google Shape;317;g3dab5b0c0aa_4_0"/>
            <p:cNvSpPr txBox="1"/>
            <p:nvPr/>
          </p:nvSpPr>
          <p:spPr>
            <a:xfrm>
              <a:off x="1571625" y="4649985"/>
              <a:ext cx="98583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3D1A2B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Limites :</a:t>
              </a:r>
              <a:r>
                <a:rPr b="0" i="0" lang="en-US" sz="1900" u="none" cap="none" strike="noStrike">
                  <a:solidFill>
                    <a:srgbClr val="47556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 Processus non duplicable et difficilement scalable pour de futures missions.</a:t>
              </a:r>
              <a:endParaRPr b="0" i="0" sz="1600" u="none" cap="none" strike="noStrike">
                <a:solidFill>
                  <a:srgbClr val="00000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pic>
          <p:nvPicPr>
            <p:cNvPr descr="image.png" id="318" name="Google Shape;318;g3dab5b0c0aa_4_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43000" y="4692848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" name="Google Shape;319;g3dab5b0c0aa_4_0"/>
          <p:cNvSpPr txBox="1"/>
          <p:nvPr/>
        </p:nvSpPr>
        <p:spPr>
          <a:xfrm>
            <a:off x="704800" y="1349207"/>
            <a:ext cx="107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C4B5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Méthode classique</a:t>
            </a:r>
            <a:endParaRPr b="0" i="0" sz="2400" u="none" cap="none" strike="noStrike">
              <a:solidFill>
                <a:srgbClr val="00000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hème Proje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2026-02-16T14:22:49Z</dcterms:created>
  <dc:creator>Youssef MAMOUNI ALAOUI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0x010100CE89DC3D7DDF0C44ACF7ACD1783AB5A7</vt:lpwstr>
  </property>
  <property fmtid="{D5CDD505-2E9C-101B-9397-08002B2CF9AE}" pid="3" name="MediaServiceImageTags">
    <vt:lpwstr/>
  </property>
  <property fmtid="{D5CDD505-2E9C-101B-9397-08002B2CF9AE}" pid="4" name="MSIP_Label_337d3b01-22b0-492a-b386-836146d7280c_ActionId">
    <vt:lpwstr>3d10aec8-56a1-4e59-9bd3-5a245d41d7f7</vt:lpwstr>
  </property>
  <property fmtid="{D5CDD505-2E9C-101B-9397-08002B2CF9AE}" pid="5" name="MSIP_Label_337d3b01-22b0-492a-b386-836146d7280c_ContentBits">
    <vt:lpwstr>0</vt:lpwstr>
  </property>
  <property fmtid="{D5CDD505-2E9C-101B-9397-08002B2CF9AE}" pid="6" name="MSIP_Label_337d3b01-22b0-492a-b386-836146d7280c_Enabled">
    <vt:lpwstr>true</vt:lpwstr>
  </property>
  <property fmtid="{D5CDD505-2E9C-101B-9397-08002B2CF9AE}" pid="7" name="MSIP_Label_337d3b01-22b0-492a-b386-836146d7280c_Method">
    <vt:lpwstr>Standard</vt:lpwstr>
  </property>
  <property fmtid="{D5CDD505-2E9C-101B-9397-08002B2CF9AE}" pid="8" name="MSIP_Label_337d3b01-22b0-492a-b386-836146d7280c_Name">
    <vt:lpwstr>No Sensitivity</vt:lpwstr>
  </property>
  <property fmtid="{D5CDD505-2E9C-101B-9397-08002B2CF9AE}" pid="9" name="MSIP_Label_337d3b01-22b0-492a-b386-836146d7280c_SetDate">
    <vt:lpwstr>2025-12-12T14:43:54Z</vt:lpwstr>
  </property>
  <property fmtid="{D5CDD505-2E9C-101B-9397-08002B2CF9AE}" pid="10" name="MSIP_Label_337d3b01-22b0-492a-b386-836146d7280c_SiteId">
    <vt:lpwstr>31a9a922-7f1f-4162-aa88-c7a168ef4143</vt:lpwstr>
  </property>
  <property fmtid="{D5CDD505-2E9C-101B-9397-08002B2CF9AE}" pid="11" name="MSIP_Label_337d3b01-22b0-492a-b386-836146d7280c_Tag">
    <vt:lpwstr>10, 3, 0, 1</vt:lpwstr>
  </property>
</Properties>
</file>